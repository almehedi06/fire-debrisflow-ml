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7"/>
                </a:solidFill>
              </a:defRPr>
            </a:pPr>
            <a:r>
              <a:t>Data Processing Pipeline for Digital-Twin-Ready Geohazard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155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F6E"/>
                </a:solidFill>
              </a:defRPr>
            </a:pPr>
            <a:r>
              <a:t>Raw event data → harmonized raster stacks → Landlab physics + ML learning/surrogates → fast scenario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1417320" cy="868680"/>
          </a:xfrm>
          <a:prstGeom prst="roundRect">
            <a:avLst/>
          </a:prstGeom>
          <a:solidFill>
            <a:srgbClr val="E0ED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Event / AOI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fire ID</a:t>
            </a:r>
            <a:br/>
            <a:r>
              <a:t>AOI polygon</a:t>
            </a:r>
            <a:br/>
            <a:r>
              <a:t>date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078992"/>
            <a:ext cx="1965960" cy="1188720"/>
          </a:xfrm>
          <a:prstGeom prst="roundRect">
            <a:avLst/>
          </a:prstGeom>
          <a:solidFill>
            <a:srgbClr val="E0ED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Raw Data Retrieval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LiDAR / DEM</a:t>
            </a:r>
            <a:br/>
            <a:r>
              <a:t>fire + landcover</a:t>
            </a:r>
            <a:br/>
            <a:r>
              <a:t>soils + forcing</a:t>
            </a:r>
            <a:br/>
            <a:r>
              <a:t>inventories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078992"/>
            <a:ext cx="1920240" cy="1188720"/>
          </a:xfrm>
          <a:prstGeom prst="roundRect">
            <a:avLst/>
          </a:prstGeom>
          <a:solidFill>
            <a:srgbClr val="FFF4D7"/>
          </a:solidFill>
          <a:ln w="14604">
            <a:solidFill>
              <a:srgbClr val="F4B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Geospatial Harmonization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clip AOI</a:t>
            </a:r>
            <a:br/>
            <a:r>
              <a:t>reproject CRS</a:t>
            </a:r>
            <a:br/>
            <a:r>
              <a:t>resample grid</a:t>
            </a:r>
            <a:br/>
            <a:r>
              <a:t>QA / nodata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78992"/>
            <a:ext cx="1874519" cy="1188720"/>
          </a:xfrm>
          <a:prstGeom prst="roundRect">
            <a:avLst/>
          </a:prstGeom>
          <a:solidFill>
            <a:srgbClr val="E5F9E7"/>
          </a:solidFill>
          <a:ln w="14604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Model-Ready Stack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aligned ASC + TIF</a:t>
            </a:r>
            <a:br/>
            <a:r>
              <a:t>features + labels</a:t>
            </a:r>
            <a:br/>
            <a:r>
              <a:t>tiles /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078992"/>
            <a:ext cx="1828800" cy="1188720"/>
          </a:xfrm>
          <a:prstGeom prst="roundRect">
            <a:avLst/>
          </a:prstGeom>
          <a:solidFill>
            <a:srgbClr val="FFF4D7"/>
          </a:solidFill>
          <a:ln w="14604">
            <a:solidFill>
              <a:srgbClr val="F4B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Derived Features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slope</a:t>
            </a:r>
            <a:br/>
            <a:r>
              <a:t>curvature</a:t>
            </a:r>
            <a:br/>
            <a:r>
              <a:t>SCA / drainage</a:t>
            </a:r>
            <a:br/>
            <a:r>
              <a:t>cohesion / PFT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52760" y="1078992"/>
            <a:ext cx="1234440" cy="1188720"/>
          </a:xfrm>
          <a:prstGeom prst="roundRect">
            <a:avLst/>
          </a:prstGeom>
          <a:solidFill>
            <a:srgbClr val="E5F9E7"/>
          </a:solidFill>
          <a:ln w="14604">
            <a:solidFill>
              <a:srgbClr val="2F8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100">
                <a:solidFill>
                  <a:srgbClr val="1E1E1E"/>
                </a:solidFill>
              </a:defRPr>
            </a:pPr>
            <a:r>
              <a:t>Staged Outputs</a:t>
            </a:r>
          </a:p>
          <a:p>
            <a:pPr algn="ctr">
              <a:defRPr sz="819">
                <a:solidFill>
                  <a:srgbClr val="37414B"/>
                </a:solidFill>
              </a:defRPr>
            </a:pPr>
            <a:r>
              <a:t>Landlab</a:t>
            </a:r>
            <a:br/>
            <a:r>
              <a:t>ML</a:t>
            </a:r>
            <a:br/>
            <a:r>
              <a:t>DT layers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1673352"/>
            <a:ext cx="256032" cy="0"/>
          </a:xfrm>
          <a:prstGeom prst="line">
            <a:avLst/>
          </a:prstGeom>
          <a:ln w="20320">
            <a:solidFill>
              <a:srgbClr val="5A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59352" y="1673352"/>
            <a:ext cx="265176" cy="0"/>
          </a:xfrm>
          <a:prstGeom prst="line">
            <a:avLst/>
          </a:prstGeom>
          <a:ln w="20320">
            <a:solidFill>
              <a:srgbClr val="5A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44768" y="1673352"/>
            <a:ext cx="256032" cy="0"/>
          </a:xfrm>
          <a:prstGeom prst="line">
            <a:avLst/>
          </a:prstGeom>
          <a:ln w="20320">
            <a:solidFill>
              <a:srgbClr val="5A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75320" y="1673352"/>
            <a:ext cx="274320" cy="0"/>
          </a:xfrm>
          <a:prstGeom prst="line">
            <a:avLst/>
          </a:prstGeom>
          <a:ln w="20320">
            <a:solidFill>
              <a:srgbClr val="5A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8440" y="1673352"/>
            <a:ext cx="274320" cy="0"/>
          </a:xfrm>
          <a:prstGeom prst="line">
            <a:avLst/>
          </a:prstGeom>
          <a:ln w="20320">
            <a:solidFill>
              <a:srgbClr val="5A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578608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F65CA"/>
                </a:solidFill>
              </a:defRPr>
            </a:pPr>
            <a:r>
              <a:t>Raw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52928"/>
            <a:ext cx="126187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880">
                <a:solidFill>
                  <a:srgbClr val="1E1E1E"/>
                </a:solidFill>
              </a:defRPr>
            </a:pPr>
            <a:r>
              <a:t>Terrain</a:t>
            </a:r>
          </a:p>
          <a:p>
            <a:pPr algn="ctr">
              <a:defRPr sz="690">
                <a:solidFill>
                  <a:srgbClr val="37414B"/>
                </a:solidFill>
              </a:defRPr>
            </a:pPr>
            <a:r>
              <a:t>DEM, LiDAR,</a:t>
            </a:r>
            <a:br/>
            <a:r>
              <a:t>pre/post elevation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9656" y="2852928"/>
            <a:ext cx="126187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880">
                <a:solidFill>
                  <a:srgbClr val="1E1E1E"/>
                </a:solidFill>
              </a:defRPr>
            </a:pPr>
            <a:r>
              <a:t>Fire + LC</a:t>
            </a:r>
          </a:p>
          <a:p>
            <a:pPr algn="ctr">
              <a:defRPr sz="690">
                <a:solidFill>
                  <a:srgbClr val="37414B"/>
                </a:solidFill>
              </a:defRPr>
            </a:pPr>
            <a:r>
              <a:t>burn severity,</a:t>
            </a:r>
            <a:br/>
            <a:r>
              <a:t>perimeters, NLCD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27832" y="2852928"/>
            <a:ext cx="126187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880">
                <a:solidFill>
                  <a:srgbClr val="1E1E1E"/>
                </a:solidFill>
              </a:defRPr>
            </a:pPr>
            <a:r>
              <a:t>Soils / Veg</a:t>
            </a:r>
          </a:p>
          <a:p>
            <a:pPr algn="ctr">
              <a:defRPr sz="690">
                <a:solidFill>
                  <a:srgbClr val="37414B"/>
                </a:solidFill>
              </a:defRPr>
            </a:pPr>
            <a:r>
              <a:t>soil depth, Ksat,</a:t>
            </a:r>
            <a:br/>
            <a:r>
              <a:t>texture, cohesion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2852928"/>
            <a:ext cx="126187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880">
                <a:solidFill>
                  <a:srgbClr val="1E1E1E"/>
                </a:solidFill>
              </a:defRPr>
            </a:pPr>
            <a:r>
              <a:t>Hydroclimate</a:t>
            </a:r>
          </a:p>
          <a:p>
            <a:pPr algn="ctr">
              <a:defRPr sz="690">
                <a:solidFill>
                  <a:srgbClr val="37414B"/>
                </a:solidFill>
              </a:defRPr>
            </a:pPr>
            <a:r>
              <a:t>NDVI, LAI, SWE,</a:t>
            </a:r>
            <a:br/>
            <a:r>
              <a:t>SMAP, precip/temp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2852928"/>
            <a:ext cx="126187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F65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880">
                <a:solidFill>
                  <a:srgbClr val="1E1E1E"/>
                </a:solidFill>
              </a:defRPr>
            </a:pPr>
            <a:r>
              <a:t>Labels</a:t>
            </a:r>
          </a:p>
          <a:p>
            <a:pPr algn="ctr">
              <a:defRPr sz="690">
                <a:solidFill>
                  <a:srgbClr val="37414B"/>
                </a:solidFill>
              </a:defRPr>
            </a:pPr>
            <a:r>
              <a:t>landslides,</a:t>
            </a:r>
            <a:br/>
            <a:r>
              <a:t>debris-flow 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77639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7"/>
                </a:solidFill>
              </a:defRPr>
            </a:pPr>
            <a:r>
              <a:t>Downstream modeling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70832"/>
            <a:ext cx="2423160" cy="1024128"/>
          </a:xfrm>
          <a:prstGeom prst="roundRect">
            <a:avLst/>
          </a:prstGeom>
          <a:solidFill>
            <a:srgbClr val="F1E8FF"/>
          </a:solidFill>
          <a:ln w="14604">
            <a:solidFill>
              <a:srgbClr val="78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000">
                <a:solidFill>
                  <a:srgbClr val="1E1E1E"/>
                </a:solidFill>
              </a:defRPr>
            </a:pPr>
            <a:r>
              <a:t>Route 1: Physics</a:t>
            </a:r>
          </a:p>
          <a:p>
            <a:pPr algn="ctr">
              <a:defRPr sz="750">
                <a:solidFill>
                  <a:srgbClr val="37414B"/>
                </a:solidFill>
              </a:defRPr>
            </a:pPr>
            <a:r>
              <a:t>Landlab process simulation</a:t>
            </a:r>
            <a:br/>
            <a:r>
              <a:t>runoff, routing, mass wasting</a:t>
            </a:r>
            <a:br/>
            <a:r>
              <a:t>evolving landscape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6392" y="4370832"/>
            <a:ext cx="2423160" cy="1024128"/>
          </a:xfrm>
          <a:prstGeom prst="roundRect">
            <a:avLst/>
          </a:prstGeom>
          <a:solidFill>
            <a:srgbClr val="F1E8FF"/>
          </a:solidFill>
          <a:ln w="14604">
            <a:solidFill>
              <a:srgbClr val="78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000">
                <a:solidFill>
                  <a:srgbClr val="1E1E1E"/>
                </a:solidFill>
              </a:defRPr>
            </a:pPr>
            <a:r>
              <a:t>Route 2: Observed ML</a:t>
            </a:r>
          </a:p>
          <a:p>
            <a:pPr algn="ctr">
              <a:defRPr sz="750">
                <a:solidFill>
                  <a:srgbClr val="37414B"/>
                </a:solidFill>
              </a:defRPr>
            </a:pPr>
            <a:r>
              <a:t>source detection</a:t>
            </a:r>
            <a:br/>
            <a:r>
              <a:t>segmentation / susceptibility</a:t>
            </a:r>
            <a:br/>
            <a:r>
              <a:t>terrain-change learning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9864" y="4370832"/>
            <a:ext cx="2423160" cy="1024128"/>
          </a:xfrm>
          <a:prstGeom prst="roundRect">
            <a:avLst/>
          </a:prstGeom>
          <a:solidFill>
            <a:srgbClr val="F1E8FF"/>
          </a:solidFill>
          <a:ln w="14604">
            <a:solidFill>
              <a:srgbClr val="78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000">
                <a:solidFill>
                  <a:srgbClr val="1E1E1E"/>
                </a:solidFill>
              </a:defRPr>
            </a:pPr>
            <a:r>
              <a:t>Route 3: Surrogates</a:t>
            </a:r>
          </a:p>
          <a:p>
            <a:pPr algn="ctr">
              <a:defRPr sz="750">
                <a:solidFill>
                  <a:srgbClr val="37414B"/>
                </a:solidFill>
              </a:defRPr>
            </a:pPr>
            <a:r>
              <a:t>train on simulation ensembles</a:t>
            </a:r>
            <a:br/>
            <a:r>
              <a:t>approximate expensive Landlab</a:t>
            </a:r>
            <a:br/>
            <a:r>
              <a:t>fast uncertainty rollout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03336" y="4370832"/>
            <a:ext cx="2880360" cy="1024128"/>
          </a:xfrm>
          <a:prstGeom prst="roundRect">
            <a:avLst/>
          </a:prstGeom>
          <a:solidFill>
            <a:srgbClr val="FFE8E8"/>
          </a:solidFill>
          <a:ln w="14604">
            <a:solidFill>
              <a:srgbClr val="BD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000">
                <a:solidFill>
                  <a:srgbClr val="1E1E1E"/>
                </a:solidFill>
              </a:defRPr>
            </a:pPr>
            <a:r>
              <a:t>Route 4: Digital Twin Layer</a:t>
            </a:r>
          </a:p>
          <a:p>
            <a:pPr algn="ctr">
              <a:defRPr sz="750">
                <a:solidFill>
                  <a:srgbClr val="37414B"/>
                </a:solidFill>
              </a:defRPr>
            </a:pPr>
            <a:r>
              <a:t>connect forcing, observations,</a:t>
            </a:r>
            <a:br/>
            <a:r>
              <a:t>simulations, surrogate outputs</a:t>
            </a:r>
            <a:br/>
            <a:r>
              <a:t>iterative updates + decision support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714500" y="2267712"/>
            <a:ext cx="9532620" cy="210312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347972" y="2267712"/>
            <a:ext cx="6899148" cy="210312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81444" y="2267712"/>
            <a:ext cx="4265676" cy="210312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843516" y="2267712"/>
            <a:ext cx="1403604" cy="210312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74519" y="5760720"/>
            <a:ext cx="8458200" cy="658368"/>
          </a:xfrm>
          <a:prstGeom prst="roundRect">
            <a:avLst/>
          </a:prstGeom>
          <a:solidFill>
            <a:srgbClr val="FFE8E8"/>
          </a:solidFill>
          <a:ln w="14604">
            <a:solidFill>
              <a:srgbClr val="BD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1200">
                <a:solidFill>
                  <a:srgbClr val="1E1E1E"/>
                </a:solidFill>
              </a:defRPr>
            </a:pPr>
            <a:r>
              <a:t>Final Capability</a:t>
            </a:r>
          </a:p>
          <a:p>
            <a:pPr algn="ctr">
              <a:defRPr sz="850">
                <a:solidFill>
                  <a:srgbClr val="37414B"/>
                </a:solidFill>
              </a:defRPr>
            </a:pPr>
            <a:r>
              <a:t>fast, scalable, uncertainty-aware geohazard prediction for scenario modeling and digital-twin workflows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14500" y="5394960"/>
            <a:ext cx="4375404" cy="36576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47972" y="5394960"/>
            <a:ext cx="1741932" cy="36576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089904" y="5394960"/>
            <a:ext cx="891540" cy="36576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89904" y="5394960"/>
            <a:ext cx="3753612" cy="365760"/>
          </a:xfrm>
          <a:prstGeom prst="line">
            <a:avLst/>
          </a:prstGeom>
          <a:ln w="1397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12680" y="2816352"/>
            <a:ext cx="1783080" cy="10058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50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>
              <a:defRPr b="1" sz="950">
                <a:solidFill>
                  <a:srgbClr val="1E1E1E"/>
                </a:solidFill>
              </a:defRPr>
            </a:pPr>
            <a:r>
              <a:t>Compute Needs</a:t>
            </a:r>
          </a:p>
          <a:p>
            <a:pPr algn="ctr">
              <a:defRPr sz="680">
                <a:solidFill>
                  <a:srgbClr val="37414B"/>
                </a:solidFill>
              </a:defRPr>
            </a:pPr>
            <a:r>
              <a:t>CPU: orchestration + Landlab</a:t>
            </a:r>
            <a:br/>
            <a:r>
              <a:t>RAM/I/O: LiDAR + rasters</a:t>
            </a:r>
            <a:br/>
            <a:r>
              <a:t>GPU: ML + surrogates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47104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F6978"/>
                </a:solidFill>
              </a:defRPr>
            </a:pPr>
            <a:r>
              <a:t>Positioning: data infrastructure enables scalable physics simulation, observation-based learning, and surrogate acceleration.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